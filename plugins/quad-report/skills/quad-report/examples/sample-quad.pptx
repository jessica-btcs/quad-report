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19456" y="0"/>
            <a:ext cx="11752783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Quad Report 2026</a:t>
            </a:r>
            <a:r>
              <a:rPr sz="1300" b="0" i="1">
                <a:solidFill>
                  <a:srgbClr val="BFD2E4"/>
                </a:solidFill>
                <a:latin typeface="Calibri"/>
              </a:rPr>
              <a:t>       Earn the Right to Grow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Sample Owner, Meridian Works</a:t>
            </a:r>
            <a:r>
              <a:rPr sz="900" b="0" i="0">
                <a:solidFill>
                  <a:srgbClr val="BFD2E4"/>
                </a:solidFill>
                <a:latin typeface="Calibri"/>
              </a:rPr>
              <a:t>      September 2026</a:t>
            </a:r>
            <a:r>
              <a:rPr sz="900" b="0" i="0">
                <a:solidFill>
                  <a:srgbClr val="BFD2E4"/>
                </a:solidFill>
                <a:latin typeface="Calibri"/>
              </a:rPr>
              <a:t>      2026-10-15</a:t>
            </a:r>
            <a:r>
              <a:rPr sz="900" b="0" i="1">
                <a:solidFill>
                  <a:srgbClr val="BFD2E4"/>
                </a:solidFill>
                <a:latin typeface="Calibri"/>
              </a:rPr>
              <a:t>      →  2029: $4M, two operating units, owner out of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" y="822960"/>
            <a:ext cx="5794095" cy="257184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219456" y="822960"/>
            <a:ext cx="5794095" cy="38404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219456" y="822960"/>
            <a:ext cx="50292" cy="384048"/>
          </a:xfrm>
          <a:prstGeom prst="rect">
            <a:avLst/>
          </a:prstGeom>
          <a:solidFill>
            <a:srgbClr val="14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5684367" cy="384048"/>
          </a:xfrm>
          <a:prstGeom prst="rect">
            <a:avLst/>
          </a:prstGeom>
          <a:noFill/>
        </p:spPr>
        <p:txBody>
          <a:bodyPr wrap="square" lIns="64008" rIns="64008" tIns="9144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26E7C"/>
                </a:solidFill>
                <a:latin typeface="Calibri"/>
              </a:rPr>
              <a:t>Think, ask, decide, do      </a:t>
            </a:r>
            <a:r>
              <a:rPr sz="1350" b="1" i="0">
                <a:solidFill>
                  <a:srgbClr val="626E7C"/>
                </a:solidFill>
                <a:latin typeface="Calibri"/>
              </a:rPr>
              <a:t>iv)  </a:t>
            </a:r>
            <a:r>
              <a:rPr sz="1350" b="1" i="0">
                <a:solidFill>
                  <a:srgbClr val="143355"/>
                </a:solidFill>
                <a:latin typeface="Calibri"/>
              </a:rPr>
              <a:t>What's On My Mind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1252728"/>
            <a:ext cx="5757519" cy="15544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3355"/>
                </a:solidFill>
                <a:latin typeface="Calibri"/>
              </a:rPr>
              <a:t>WORTH THINKING ABOUT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94460"/>
            <a:ext cx="5684367" cy="731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37744" y="1417320"/>
            <a:ext cx="5757519" cy="310896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8DEE4"/>
                </a:solidFill>
                <a:latin typeface="Calibri"/>
              </a:rPr>
              <a:t>•                                                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D8DEE4"/>
                </a:solidFill>
                <a:latin typeface="Calibri"/>
              </a:rPr>
              <a:t>•                                               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" y="1728216"/>
            <a:ext cx="5757519" cy="15544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3355"/>
                </a:solidFill>
                <a:latin typeface="Calibri"/>
              </a:rPr>
              <a:t>QUESTIONS I CAN'T ANSWER YET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69948"/>
            <a:ext cx="5684367" cy="731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37744" y="1892808"/>
            <a:ext cx="5757519" cy="310896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8DEE4"/>
                </a:solidFill>
                <a:latin typeface="Calibri"/>
              </a:rPr>
              <a:t>•                                                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D8DEE4"/>
                </a:solidFill>
                <a:latin typeface="Calibri"/>
              </a:rPr>
              <a:t>•                                               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" y="2203704"/>
            <a:ext cx="5757519" cy="15544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3355"/>
                </a:solidFill>
                <a:latin typeface="Calibri"/>
              </a:rPr>
              <a:t>DECISIONS I HAVE TO MAKE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45436"/>
            <a:ext cx="5684367" cy="731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37744" y="2368296"/>
            <a:ext cx="5757519" cy="310896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8DEE4"/>
                </a:solidFill>
                <a:latin typeface="Calibri"/>
              </a:rPr>
              <a:t>•                                                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D8DEE4"/>
                </a:solidFill>
                <a:latin typeface="Calibri"/>
              </a:rPr>
              <a:t>•                                               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" y="2679192"/>
            <a:ext cx="5757519" cy="15544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3355"/>
                </a:solidFill>
                <a:latin typeface="Calibri"/>
              </a:rPr>
              <a:t>WHAT I'M DOING ABOUT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20924"/>
            <a:ext cx="5684367" cy="731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37744" y="2843784"/>
            <a:ext cx="5757519" cy="310896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8DEE4"/>
                </a:solidFill>
                <a:latin typeface="Calibri"/>
              </a:rPr>
              <a:t>•                                                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D8DEE4"/>
                </a:solidFill>
                <a:latin typeface="Calibri"/>
              </a:rPr>
              <a:t>•                                               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54680"/>
            <a:ext cx="5684367" cy="731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37744" y="3172968"/>
            <a:ext cx="5757519" cy="201168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3355"/>
                </a:solidFill>
                <a:latin typeface="Calibri"/>
              </a:rPr>
              <a:t>WHAT I WANT FROM THE GROUP    </a:t>
            </a:r>
            <a:r>
              <a:rPr sz="1000" b="1" i="0">
                <a:solidFill>
                  <a:srgbClr val="626E7C"/>
                </a:solidFill>
                <a:latin typeface="Calibri"/>
              </a:rPr>
              <a:t> 1.  </a:t>
            </a:r>
            <a:r>
              <a:rPr sz="1000" b="0" i="0">
                <a:solidFill>
                  <a:srgbClr val="D8DEE4"/>
                </a:solidFill>
                <a:latin typeface="Calibri"/>
              </a:rPr>
              <a:t>                  </a:t>
            </a:r>
            <a:r>
              <a:rPr sz="1000" b="1" i="0">
                <a:solidFill>
                  <a:srgbClr val="626E7C"/>
                </a:solidFill>
                <a:latin typeface="Calibri"/>
              </a:rPr>
              <a:t> 2.  </a:t>
            </a:r>
            <a:r>
              <a:rPr sz="1000" b="0" i="0">
                <a:solidFill>
                  <a:srgbClr val="D8DEE4"/>
                </a:solidFill>
                <a:latin typeface="Calibri"/>
              </a:rPr>
              <a:t>                  </a:t>
            </a:r>
            <a:r>
              <a:rPr sz="1000" b="1" i="0">
                <a:solidFill>
                  <a:srgbClr val="626E7C"/>
                </a:solidFill>
                <a:latin typeface="Calibri"/>
              </a:rPr>
              <a:t> 3.  </a:t>
            </a:r>
            <a:r>
              <a:rPr sz="1000" b="0" i="0">
                <a:solidFill>
                  <a:srgbClr val="D8DEE4"/>
                </a:solidFill>
                <a:latin typeface="Calibri"/>
              </a:rPr>
              <a:t>              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8143" y="822960"/>
            <a:ext cx="5794095" cy="2571841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178143" y="822960"/>
            <a:ext cx="5794095" cy="38404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78143" y="822960"/>
            <a:ext cx="50292" cy="384048"/>
          </a:xfrm>
          <a:prstGeom prst="rect">
            <a:avLst/>
          </a:prstGeom>
          <a:solidFill>
            <a:srgbClr val="14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33007" y="822960"/>
            <a:ext cx="5684367" cy="384048"/>
          </a:xfrm>
          <a:prstGeom prst="rect">
            <a:avLst/>
          </a:prstGeom>
          <a:noFill/>
        </p:spPr>
        <p:txBody>
          <a:bodyPr wrap="square" lIns="64008" rIns="6400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26E7C"/>
                </a:solidFill>
                <a:latin typeface="Calibri"/>
              </a:rPr>
              <a:t>iii)  </a:t>
            </a:r>
            <a:r>
              <a:rPr sz="1350" b="1" i="0">
                <a:solidFill>
                  <a:srgbClr val="143355"/>
                </a:solidFill>
                <a:latin typeface="Calibri"/>
              </a:rPr>
              <a:t>How We Get There</a:t>
            </a:r>
            <a:r>
              <a:rPr sz="900" b="0" i="1">
                <a:solidFill>
                  <a:srgbClr val="626E7C"/>
                </a:solidFill>
                <a:latin typeface="Calibri"/>
              </a:rPr>
              <a:t>      The work that moves the goals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6431" y="1252728"/>
            <a:ext cx="2823895" cy="15544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06B36"/>
                </a:solidFill>
                <a:latin typeface="Calibri"/>
              </a:rPr>
              <a:t>WHAT WENT WELL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3007" y="1394460"/>
            <a:ext cx="2750743" cy="731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96431" y="1417320"/>
            <a:ext cx="2823895" cy="804672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81D24"/>
                </a:solidFill>
                <a:latin typeface="Calibri"/>
              </a:rPr>
              <a:t>•  Books closed on the 4th, third month running.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181D24"/>
                </a:solidFill>
                <a:latin typeface="Calibri"/>
              </a:rPr>
              <a:t>•  Second service agreement signed, $420K over 3 years.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181D24"/>
                </a:solidFill>
                <a:latin typeface="Calibri"/>
              </a:rPr>
              <a:t>•  Job costing live on every job since August 1.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0055" y="1252728"/>
            <a:ext cx="2823895" cy="15544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1F1F"/>
                </a:solidFill>
                <a:latin typeface="Calibri"/>
              </a:rPr>
              <a:t>WHAT DIDN'T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66631" y="1394460"/>
            <a:ext cx="2750743" cy="731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30055" y="1417320"/>
            <a:ext cx="2823895" cy="804672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81D24"/>
                </a:solidFill>
                <a:latin typeface="Calibri"/>
              </a:rPr>
              <a:t>•  No crew leads hired, two months into the search.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181D24"/>
                </a:solidFill>
                <a:latin typeface="Calibri"/>
              </a:rPr>
              <a:t>•  Subcontract hours 61% of field time against a 40% target.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181D24"/>
                </a:solidFill>
                <a:latin typeface="Calibri"/>
              </a:rPr>
              <a:t>•  Largest client still 34% of revenue.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6431" y="2221992"/>
            <a:ext cx="5757519" cy="15544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26E7C"/>
                </a:solidFill>
                <a:latin typeface="Calibri"/>
              </a:rPr>
              <a:t>WHAT'S COME OFF MY DESK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3007" y="2363724"/>
            <a:ext cx="5684367" cy="731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196431" y="2386584"/>
            <a:ext cx="5757519" cy="164592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E7C"/>
                </a:solidFill>
                <a:latin typeface="Calibri"/>
              </a:rPr>
              <a:t>Estimating still comes through me. The template exists; nobody else has used it yet.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6431" y="2551176"/>
            <a:ext cx="5757519" cy="786384"/>
          </a:xfrm>
          <a:prstGeom prst="rect">
            <a:avLst/>
          </a:prstGeom>
          <a:solidFill>
            <a:srgbClr val="F6F8FA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33007" y="2578608"/>
            <a:ext cx="5684367" cy="15544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3355"/>
                </a:solidFill>
                <a:latin typeface="Calibri"/>
              </a:rPr>
              <a:t>THE SIX THINGS WE'RE WORKING 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9583" y="2720340"/>
            <a:ext cx="5611215" cy="731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233007" y="2743200"/>
            <a:ext cx="2823895" cy="566928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E7C"/>
                </a:solidFill>
                <a:latin typeface="Calibri"/>
              </a:rPr>
              <a:t>1.  </a:t>
            </a:r>
            <a:r>
              <a:rPr sz="1000" b="0" i="0">
                <a:solidFill>
                  <a:srgbClr val="181D24"/>
                </a:solidFill>
                <a:latin typeface="Calibri"/>
              </a:rPr>
              <a:t>Turning one-off jobs into agreements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 i="0">
                <a:solidFill>
                  <a:srgbClr val="626E7C"/>
                </a:solidFill>
                <a:latin typeface="Calibri"/>
              </a:rPr>
              <a:t>2.  </a:t>
            </a:r>
            <a:r>
              <a:rPr sz="1000" b="0" i="0">
                <a:solidFill>
                  <a:srgbClr val="181D24"/>
                </a:solidFill>
                <a:latin typeface="Calibri"/>
              </a:rPr>
              <a:t>Hiring and certifying crew leads</a:t>
            </a:r>
            <a:r>
              <a:rPr sz="800" b="1" i="0">
                <a:solidFill>
                  <a:srgbClr val="A81F1F"/>
                </a:solidFill>
                <a:latin typeface="Calibri"/>
              </a:rPr>
              <a:t>   stuck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 i="0">
                <a:solidFill>
                  <a:srgbClr val="626E7C"/>
                </a:solidFill>
                <a:latin typeface="Calibri"/>
              </a:rPr>
              <a:t>3.  </a:t>
            </a:r>
            <a:r>
              <a:rPr sz="1000" b="0" i="0">
                <a:solidFill>
                  <a:srgbClr val="181D24"/>
                </a:solidFill>
                <a:latin typeface="Calibri"/>
              </a:rPr>
              <a:t>Pricing off real job cost, not gut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3479" y="2743200"/>
            <a:ext cx="2823895" cy="566928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E7C"/>
                </a:solidFill>
                <a:latin typeface="Calibri"/>
              </a:rPr>
              <a:t>4.  </a:t>
            </a:r>
            <a:r>
              <a:rPr sz="1000" b="0" i="0">
                <a:solidFill>
                  <a:srgbClr val="181D24"/>
                </a:solidFill>
                <a:latin typeface="Calibri"/>
              </a:rPr>
              <a:t>Closing the books by the 5th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 i="0">
                <a:solidFill>
                  <a:srgbClr val="626E7C"/>
                </a:solidFill>
                <a:latin typeface="Calibri"/>
              </a:rPr>
              <a:t>5.  </a:t>
            </a:r>
            <a:r>
              <a:rPr sz="1000" b="0" i="0">
                <a:solidFill>
                  <a:srgbClr val="181D24"/>
                </a:solidFill>
                <a:latin typeface="Calibri"/>
              </a:rPr>
              <a:t>Winning outside the top two clients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1" i="0">
                <a:solidFill>
                  <a:srgbClr val="626E7C"/>
                </a:solidFill>
                <a:latin typeface="Calibri"/>
              </a:rPr>
              <a:t>6.  </a:t>
            </a:r>
            <a:r>
              <a:rPr sz="1000" b="0" i="0">
                <a:solidFill>
                  <a:srgbClr val="181D24"/>
                </a:solidFill>
                <a:latin typeface="Calibri"/>
              </a:rPr>
              <a:t>Getting the owner out of estimating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" y="3559393"/>
            <a:ext cx="5794095" cy="267681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19456" y="5852159"/>
            <a:ext cx="5794095" cy="38404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219456" y="5852159"/>
            <a:ext cx="50292" cy="384048"/>
          </a:xfrm>
          <a:prstGeom prst="rect">
            <a:avLst/>
          </a:prstGeom>
          <a:solidFill>
            <a:srgbClr val="14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74320" y="5852159"/>
            <a:ext cx="5684367" cy="384048"/>
          </a:xfrm>
          <a:prstGeom prst="rect">
            <a:avLst/>
          </a:prstGeom>
          <a:noFill/>
        </p:spPr>
        <p:txBody>
          <a:bodyPr wrap="square" lIns="64008" rIns="64008" tIns="9144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26E7C"/>
                </a:solidFill>
                <a:latin typeface="Calibri"/>
              </a:rPr>
              <a:t>September, costed on hours actually worked      </a:t>
            </a:r>
            <a:r>
              <a:rPr sz="1350" b="1" i="0">
                <a:solidFill>
                  <a:srgbClr val="626E7C"/>
                </a:solidFill>
                <a:latin typeface="Calibri"/>
              </a:rPr>
              <a:t>i)  </a:t>
            </a:r>
            <a:r>
              <a:rPr sz="1350" b="1" i="0">
                <a:solidFill>
                  <a:srgbClr val="143355"/>
                </a:solidFill>
                <a:latin typeface="Calibri"/>
              </a:rPr>
              <a:t>How We Did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" y="3605113"/>
            <a:ext cx="5757519" cy="44209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237744" y="3632545"/>
            <a:ext cx="41148" cy="387230"/>
          </a:xfrm>
          <a:prstGeom prst="rect">
            <a:avLst/>
          </a:prstGeom>
          <a:solidFill>
            <a:srgbClr val="10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10896" y="3605113"/>
            <a:ext cx="5666079" cy="442094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1D24"/>
                </a:solidFill>
                <a:latin typeface="Calibri"/>
              </a:rPr>
              <a:t>$318.4K   </a:t>
            </a:r>
            <a:r>
              <a:rPr sz="1150" b="1" i="0">
                <a:solidFill>
                  <a:srgbClr val="143355"/>
                </a:solidFill>
                <a:latin typeface="Calibri"/>
              </a:rPr>
              <a:t>Revenue</a:t>
            </a:r>
            <a:r>
              <a:rPr sz="900" b="0" i="0">
                <a:solidFill>
                  <a:srgbClr val="626E7C"/>
                </a:solidFill>
                <a:latin typeface="Calibri"/>
              </a:rPr>
              <a:t>     plan $300.0K</a:t>
            </a:r>
            <a:r>
              <a:rPr sz="900" b="1" i="0">
                <a:solidFill>
                  <a:srgbClr val="106B36"/>
                </a:solidFill>
                <a:latin typeface="Calibri"/>
              </a:rPr>
              <a:t>     +$18.4K  (+6%)</a:t>
            </a:r>
            <a:r>
              <a:rPr sz="900" b="1" i="0">
                <a:solidFill>
                  <a:srgbClr val="106B36"/>
                </a:solidFill>
                <a:latin typeface="Calibri"/>
              </a:rPr>
              <a:t>     on track</a:t>
            </a:r>
            <a:r>
              <a:rPr sz="900" b="0" i="0">
                <a:solidFill>
                  <a:srgbClr val="626E7C"/>
                </a:solidFill>
                <a:latin typeface="Calibri"/>
              </a:rPr>
              <a:t>     rising 3 months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626E7C"/>
                </a:solidFill>
                <a:latin typeface="Calibri"/>
              </a:rPr>
              <a:t>Per the billing tracker, by work month. Q3 averaged $304K.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" y="4074639"/>
            <a:ext cx="41148" cy="38723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10896" y="4047207"/>
            <a:ext cx="5666079" cy="442094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1D24"/>
                </a:solidFill>
                <a:latin typeface="Calibri"/>
              </a:rPr>
              <a:t>41.2%   </a:t>
            </a:r>
            <a:r>
              <a:rPr sz="1150" b="1" i="0">
                <a:solidFill>
                  <a:srgbClr val="143355"/>
                </a:solidFill>
                <a:latin typeface="Calibri"/>
              </a:rPr>
              <a:t>Gross Margin</a:t>
            </a:r>
            <a:r>
              <a:rPr sz="900" b="0" i="0">
                <a:solidFill>
                  <a:srgbClr val="626E7C"/>
                </a:solidFill>
                <a:latin typeface="Calibri"/>
              </a:rPr>
              <a:t>     plan 44.0%</a:t>
            </a:r>
            <a:r>
              <a:rPr sz="900" b="1" i="0">
                <a:solidFill>
                  <a:srgbClr val="A81F1F"/>
                </a:solidFill>
                <a:latin typeface="Calibri"/>
              </a:rPr>
              <a:t>     -2.8 pts  (-6%)</a:t>
            </a:r>
            <a:r>
              <a:rPr sz="900" b="1" i="0">
                <a:solidFill>
                  <a:srgbClr val="A81F1F"/>
                </a:solidFill>
                <a:latin typeface="Calibri"/>
              </a:rPr>
              <a:t>     behind</a:t>
            </a:r>
            <a:r>
              <a:rPr sz="900" b="0" i="0">
                <a:solidFill>
                  <a:srgbClr val="626E7C"/>
                </a:solidFill>
                <a:latin typeface="Calibri"/>
              </a:rPr>
              <a:t>     falling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626E7C"/>
                </a:solidFill>
                <a:latin typeface="Calibri"/>
              </a:rPr>
              <a:t>Subcontract crews were 61% of field hours in September.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" y="4489301"/>
            <a:ext cx="5757519" cy="44209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237744" y="4516733"/>
            <a:ext cx="41148" cy="387230"/>
          </a:xfrm>
          <a:prstGeom prst="rect">
            <a:avLst/>
          </a:prstGeom>
          <a:solidFill>
            <a:srgbClr val="10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10896" y="4489301"/>
            <a:ext cx="5666079" cy="442094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1D24"/>
                </a:solidFill>
                <a:latin typeface="Calibri"/>
              </a:rPr>
              <a:t>$94.5K   </a:t>
            </a:r>
            <a:r>
              <a:rPr sz="1150" b="1" i="0">
                <a:solidFill>
                  <a:srgbClr val="143355"/>
                </a:solidFill>
                <a:latin typeface="Calibri"/>
              </a:rPr>
              <a:t>Overhead</a:t>
            </a:r>
            <a:r>
              <a:rPr sz="900" b="0" i="0">
                <a:solidFill>
                  <a:srgbClr val="626E7C"/>
                </a:solidFill>
                <a:latin typeface="Calibri"/>
              </a:rPr>
              <a:t>     plan $98.0K</a:t>
            </a:r>
            <a:r>
              <a:rPr sz="900" b="1" i="0">
                <a:solidFill>
                  <a:srgbClr val="106B36"/>
                </a:solidFill>
                <a:latin typeface="Calibri"/>
              </a:rPr>
              <a:t>     -$3.5K  (-4%)</a:t>
            </a:r>
            <a:r>
              <a:rPr sz="900" b="1" i="0">
                <a:solidFill>
                  <a:srgbClr val="106B36"/>
                </a:solidFill>
                <a:latin typeface="Calibri"/>
              </a:rPr>
              <a:t>     on track</a:t>
            </a:r>
            <a:r>
              <a:rPr sz="900" b="0" i="0">
                <a:solidFill>
                  <a:srgbClr val="626E7C"/>
                </a:solidFill>
                <a:latin typeface="Calibri"/>
              </a:rPr>
              <a:t>     steady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626E7C"/>
                </a:solidFill>
                <a:latin typeface="Calibri"/>
              </a:rPr>
              <a:t>Two open roles still unfilled, which is why this reads low.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7744" y="4958827"/>
            <a:ext cx="41148" cy="387230"/>
          </a:xfrm>
          <a:prstGeom prst="rect">
            <a:avLst/>
          </a:prstGeom>
          <a:solidFill>
            <a:srgbClr val="10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10896" y="4931395"/>
            <a:ext cx="5666079" cy="442094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1D24"/>
                </a:solidFill>
                <a:latin typeface="Calibri"/>
              </a:rPr>
              <a:t>$36.6K   </a:t>
            </a:r>
            <a:r>
              <a:rPr sz="1150" b="1" i="0">
                <a:solidFill>
                  <a:srgbClr val="143355"/>
                </a:solidFill>
                <a:latin typeface="Calibri"/>
              </a:rPr>
              <a:t>Net Profit</a:t>
            </a:r>
            <a:r>
              <a:rPr sz="900" b="0" i="0">
                <a:solidFill>
                  <a:srgbClr val="626E7C"/>
                </a:solidFill>
                <a:latin typeface="Calibri"/>
              </a:rPr>
              <a:t>     plan $34.0K</a:t>
            </a:r>
            <a:r>
              <a:rPr sz="900" b="1" i="0">
                <a:solidFill>
                  <a:srgbClr val="106B36"/>
                </a:solidFill>
                <a:latin typeface="Calibri"/>
              </a:rPr>
              <a:t>     +$2.6K  (+8%)</a:t>
            </a:r>
            <a:r>
              <a:rPr sz="900" b="1" i="0">
                <a:solidFill>
                  <a:srgbClr val="106B36"/>
                </a:solidFill>
                <a:latin typeface="Calibri"/>
              </a:rPr>
              <a:t>     on track</a:t>
            </a:r>
            <a:r>
              <a:rPr sz="900" b="0" i="0">
                <a:solidFill>
                  <a:srgbClr val="626E7C"/>
                </a:solidFill>
                <a:latin typeface="Calibri"/>
              </a:rPr>
              <a:t>     rising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626E7C"/>
                </a:solidFill>
                <a:latin typeface="Calibri"/>
              </a:rPr>
              <a:t>First month above plan since April.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" y="5373489"/>
            <a:ext cx="5757519" cy="44209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37744" y="5400921"/>
            <a:ext cx="41148" cy="38723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10896" y="5373489"/>
            <a:ext cx="5666079" cy="442094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1D24"/>
                </a:solidFill>
                <a:latin typeface="Calibri"/>
              </a:rPr>
              <a:t>2.8 mo   </a:t>
            </a:r>
            <a:r>
              <a:rPr sz="1150" b="1" i="0">
                <a:solidFill>
                  <a:srgbClr val="143355"/>
                </a:solidFill>
                <a:latin typeface="Calibri"/>
              </a:rPr>
              <a:t>Cash Reserve</a:t>
            </a:r>
            <a:r>
              <a:rPr sz="900" b="0" i="0">
                <a:solidFill>
                  <a:srgbClr val="626E7C"/>
                </a:solidFill>
                <a:latin typeface="Calibri"/>
              </a:rPr>
              <a:t>     plan 4.0 mo</a:t>
            </a:r>
            <a:r>
              <a:rPr sz="900" b="1" i="0">
                <a:solidFill>
                  <a:srgbClr val="A81F1F"/>
                </a:solidFill>
                <a:latin typeface="Calibri"/>
              </a:rPr>
              <a:t>     -1.2 mo  (-30%)</a:t>
            </a:r>
            <a:r>
              <a:rPr sz="900" b="1" i="0">
                <a:solidFill>
                  <a:srgbClr val="A81F1F"/>
                </a:solidFill>
                <a:latin typeface="Calibri"/>
              </a:rPr>
              <a:t>     behind</a:t>
            </a:r>
            <a:r>
              <a:rPr sz="900" b="0" i="0">
                <a:solidFill>
                  <a:srgbClr val="626E7C"/>
                </a:solidFill>
                <a:latin typeface="Calibri"/>
              </a:rPr>
              <a:t>     rising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626E7C"/>
                </a:solidFill>
                <a:latin typeface="Calibri"/>
              </a:rPr>
              <a:t>$264,600 against $94,500 of monthly fixed overhead.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8143" y="3559393"/>
            <a:ext cx="5794095" cy="267681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6178143" y="5852159"/>
            <a:ext cx="5794095" cy="38404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6178143" y="5852159"/>
            <a:ext cx="50292" cy="384048"/>
          </a:xfrm>
          <a:prstGeom prst="rect">
            <a:avLst/>
          </a:prstGeom>
          <a:solidFill>
            <a:srgbClr val="14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233007" y="5852159"/>
            <a:ext cx="5684367" cy="384048"/>
          </a:xfrm>
          <a:prstGeom prst="rect">
            <a:avLst/>
          </a:prstGeom>
          <a:noFill/>
        </p:spPr>
        <p:txBody>
          <a:bodyPr wrap="square" lIns="64008" rIns="6400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26E7C"/>
                </a:solidFill>
                <a:latin typeface="Calibri"/>
              </a:rPr>
              <a:t>ii)  </a:t>
            </a:r>
            <a:r>
              <a:rPr sz="1350" b="1" i="0">
                <a:solidFill>
                  <a:srgbClr val="143355"/>
                </a:solidFill>
                <a:latin typeface="Calibri"/>
              </a:rPr>
              <a:t>This Year's Goals</a:t>
            </a:r>
            <a:r>
              <a:rPr sz="900" b="0" i="1">
                <a:solidFill>
                  <a:srgbClr val="626E7C"/>
                </a:solidFill>
                <a:latin typeface="Calibri"/>
              </a:rPr>
              <a:t>      What we said we'd do by December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96431" y="3605113"/>
            <a:ext cx="5757519" cy="552617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6196431" y="3632545"/>
            <a:ext cx="41148" cy="497753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269583" y="3605113"/>
            <a:ext cx="5666079" cy="552617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26E7C"/>
                </a:solidFill>
                <a:latin typeface="Calibri"/>
              </a:rPr>
              <a:t>1.  </a:t>
            </a:r>
            <a:r>
              <a:rPr sz="1100" b="1" i="0">
                <a:solidFill>
                  <a:srgbClr val="143355"/>
                </a:solidFill>
                <a:latin typeface="Calibri"/>
              </a:rPr>
              <a:t>WIN WORK THAT FITS</a:t>
            </a:r>
          </a:p>
          <a:p>
            <a:pPr algn="l" marL="201168" indent="0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26E7C"/>
                </a:solidFill>
                <a:latin typeface="Calibri"/>
              </a:rPr>
              <a:t>•  Close 2026 at $3.6M with no client over 30%. Largest is 34% today.</a:t>
            </a:r>
          </a:p>
          <a:p>
            <a:pPr algn="l" marL="201168" indent="0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26E7C"/>
                </a:solidFill>
                <a:latin typeface="Calibri"/>
              </a:rPr>
              <a:t>•  Three signed service agreements. Two signed, one in legal.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96431" y="4185162"/>
            <a:ext cx="41148" cy="497753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269583" y="4157730"/>
            <a:ext cx="5666079" cy="552617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26E7C"/>
                </a:solidFill>
                <a:latin typeface="Calibri"/>
              </a:rPr>
              <a:t>2.  </a:t>
            </a:r>
            <a:r>
              <a:rPr sz="1100" b="1" i="0">
                <a:solidFill>
                  <a:srgbClr val="143355"/>
                </a:solidFill>
                <a:latin typeface="Calibri"/>
              </a:rPr>
              <a:t>BUILD THE FIELD BENCH</a:t>
            </a:r>
            <a:r>
              <a:rPr sz="800" b="1" i="0">
                <a:solidFill>
                  <a:srgbClr val="A81F1F"/>
                </a:solidFill>
                <a:latin typeface="Calibri"/>
              </a:rPr>
              <a:t>   STUCK 2 MONTHS</a:t>
            </a:r>
          </a:p>
          <a:p>
            <a:pPr algn="l" marL="201168" indent="0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26E7C"/>
                </a:solidFill>
                <a:latin typeface="Calibri"/>
              </a:rPr>
              <a:t>•  Two crew leads hired and certified by December. None hired.</a:t>
            </a:r>
          </a:p>
          <a:p>
            <a:pPr algn="l" marL="201168" indent="0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26E7C"/>
                </a:solidFill>
                <a:latin typeface="Calibri"/>
              </a:rPr>
              <a:t>•  Subcontract hours under 40% of field time. Running 61%.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96431" y="4710348"/>
            <a:ext cx="5757519" cy="552617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6196431" y="4737780"/>
            <a:ext cx="41148" cy="497753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269583" y="4710348"/>
            <a:ext cx="5666079" cy="552617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26E7C"/>
                </a:solidFill>
                <a:latin typeface="Calibri"/>
              </a:rPr>
              <a:t>3.  </a:t>
            </a:r>
            <a:r>
              <a:rPr sz="1100" b="1" i="0">
                <a:solidFill>
                  <a:srgbClr val="143355"/>
                </a:solidFill>
                <a:latin typeface="Calibri"/>
              </a:rPr>
              <a:t>MAKE THE OFFICE BORING</a:t>
            </a:r>
          </a:p>
          <a:p>
            <a:pPr algn="l" marL="201168" indent="0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26E7C"/>
                </a:solidFill>
                <a:latin typeface="Calibri"/>
              </a:rPr>
              <a:t>•  Close the books by the 5th. Hit it in July, August, September.</a:t>
            </a:r>
          </a:p>
          <a:p>
            <a:pPr algn="l" marL="201168" indent="0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26E7C"/>
                </a:solidFill>
                <a:latin typeface="Calibri"/>
              </a:rPr>
              <a:t>•  One system of record for jobs. Migration 60% complete.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96431" y="5290397"/>
            <a:ext cx="41148" cy="497753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269583" y="5262965"/>
            <a:ext cx="5666079" cy="552617"/>
          </a:xfrm>
          <a:prstGeom prst="rect">
            <a:avLst/>
          </a:prstGeom>
          <a:noFill/>
        </p:spPr>
        <p:txBody>
          <a:bodyPr wrap="square" lIns="45720" rIns="45720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26E7C"/>
                </a:solidFill>
                <a:latin typeface="Calibri"/>
              </a:rPr>
              <a:t>4.  </a:t>
            </a:r>
            <a:r>
              <a:rPr sz="1100" b="1" i="0">
                <a:solidFill>
                  <a:srgbClr val="143355"/>
                </a:solidFill>
                <a:latin typeface="Calibri"/>
              </a:rPr>
              <a:t>GIVE BACK WHERE WE WORK</a:t>
            </a:r>
          </a:p>
          <a:p>
            <a:pPr algn="l" marL="201168" indent="0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26E7C"/>
                </a:solidFill>
                <a:latin typeface="Calibri"/>
              </a:rPr>
              <a:t>•  2% of profit to the regional trades scholarship fund.</a:t>
            </a:r>
          </a:p>
          <a:p>
            <a:pPr algn="l" marL="201168" indent="0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626E7C"/>
                </a:solidFill>
                <a:latin typeface="Calibri"/>
              </a:rPr>
              <a:t>•  $14,200 committed this year, four apprentices sponsored.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9456" y="6656832"/>
            <a:ext cx="11752783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26E7C"/>
                </a:solidFill>
                <a:latin typeface="Calibri"/>
              </a:rPr>
              <a:t>© Sherpa Alliance, 2004</a:t>
            </a:r>
            <a:r>
              <a:rPr sz="800" b="0" i="0">
                <a:solidFill>
                  <a:srgbClr val="626E7C"/>
                </a:solidFill>
                <a:latin typeface="Calibri"/>
              </a:rPr>
              <a:t>            KEY      Green = at or ahead of plan      Amber = missed by 5% or less      Red = missed by more than 5%      STUCK = no change for two months or more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